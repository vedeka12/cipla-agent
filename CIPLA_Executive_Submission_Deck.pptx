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315200" y="0"/>
            <a:ext cx="4876495" cy="6858000"/>
          </a:xfrm>
          <a:prstGeom prst="rtTriangle">
            <a:avLst/>
          </a:prstGeom>
          <a:solidFill>
            <a:srgbClr val="16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14234B"/>
          </a:solidFill>
          <a:ln>
            <a:solidFill>
              <a:srgbClr val="284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100" b="1">
                <a:solidFill>
                  <a:srgbClr val="D92534"/>
                </a:solidFill>
                <a:latin typeface="Trebuchet MS"/>
              </a:defRPr>
            </a:pPr>
            <a:r>
              <a:t>CIPLA CARDIAC STRATEGY  •  ASCEND SEASON 4 SUBMISSION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Trebuchet MS"/>
              </a:defRPr>
            </a:pPr>
            <a:r>
              <a:t>CIPLA CARDIAC OPPORTUNITY</a:t>
            </a:r>
            <a:br/>
            <a:r>
              <a:t>PRIORITIZATION AGENT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An Autonomous Agentic Framework Synthesizing Commercial Market Signals &amp; Live Clinical Guidelines to Accelerate Portfolio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33F8C"/>
                </a:solidFill>
                <a:latin typeface="Trebuchet MS"/>
              </a:defRPr>
            </a:pPr>
            <a:r>
              <a:t>Slide 1: AI Agent Architecture &amp; Prioritization Framework (Deliverable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1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300" b="1">
                <a:solidFill>
                  <a:srgbClr val="D92534"/>
                </a:solidFill>
                <a:latin typeface="Trebuchet MS"/>
              </a:defRPr>
            </a:pPr>
            <a:r>
              <a:t>1. OBJECTIVE &amp; SCOPE</a:t>
            </a:r>
          </a:p>
          <a:p>
            <a:br/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Performance Diagnosis:</a:t>
            </a:r>
            <a:br/>
            <a:r>
              <a:t>61% of CIPLA's sales are tied to mature, low-growth drugs (Amlodipine combinations growing at 4.9%).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Core Agent Purpose:</a:t>
            </a:r>
            <a:br/>
            <a:r>
              <a:t>Autonomously rank 193 active cardiac molecules across 14 ATC groups to uncover 3–5 year high-growth opportunity spaces.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28416" cy="73152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962656" cy="8229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800" b="1">
                <a:solidFill>
                  <a:srgbClr val="D92534"/>
                </a:solidFill>
                <a:latin typeface="Trebuchet MS"/>
              </a:defRPr>
            </a:pPr>
            <a:r>
              <a:t>3.98% vs 12.18%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CIPLA Growth vs Market Growth Challenge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28016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300" b="1">
                <a:solidFill>
                  <a:srgbClr val="233F8C"/>
                </a:solidFill>
                <a:latin typeface="Trebuchet MS"/>
              </a:defRPr>
            </a:pPr>
            <a:r>
              <a:t>2. 3-LAYER INGESTION SYSTEM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Layer 1: Commercial Baseline</a:t>
            </a:r>
            <a:br/>
            <a:r>
              <a:t>Ingests annual MAT sales, Constant-Price volume CAGRs (MAT CP), units, HHI, and brand footholds. Excludes monthly noise &amp; pack-size SKU clutter.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Layer 2: Live Secondary Signals</a:t>
            </a:r>
            <a:br/>
            <a:r>
              <a:t>LLM Agent retrieves ESC/AHA/API guidelines, landmark trials (CARTER, ORION), and Indian patent dates.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Layer 3: Market Clusters</a:t>
            </a:r>
            <a:br/>
            <a:r>
              <a:t>Categorizes molecules into 4 clinical treatment archetypes.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1280160"/>
            <a:ext cx="3328416" cy="73152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19872" y="128016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3. FORMULA &amp; TRADE-OFF LOGIC</a:t>
            </a:r>
          </a:p>
          <a:p>
            <a:br/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• Trade-Off Resolutions:</a:t>
            </a:r>
            <a:br/>
            <a:r>
              <a:t>1. Scale vs Growth: MAT CP isolates volume expansion from price inflation.</a:t>
            </a:r>
            <a:br/>
            <a:r>
              <a:t>2. Crowding vs RTW: Overridden if CIPLA holds umbrella brand (Telma).</a:t>
            </a:r>
            <a:br/>
            <a:r>
              <a:t>3. In-Licensing: High gaps without R&amp;D assigned to Co-Marketing.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280160"/>
            <a:ext cx="3328416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02752" y="1783080"/>
            <a:ext cx="2962656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6366F1"/>
                </a:solidFill>
                <a:latin typeface="Trebuchet MS"/>
              </a:defRPr>
            </a:pPr>
            <a:r>
              <a:t>PRIORITIZATION FORMULA:</a:t>
            </a:r>
          </a:p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Score = 0.40 * Attractiveness</a:t>
            </a:r>
            <a:br/>
            <a:r>
              <a:t>       + 0.25 * HHI Competition</a:t>
            </a:r>
            <a:br/>
            <a:r>
              <a:t>       + 0.35 * CIPLA RTW + Bonus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33F8C"/>
                </a:solidFill>
                <a:latin typeface="Trebuchet MS"/>
              </a:defRPr>
            </a:pPr>
            <a:r>
              <a:t>Slide 2: Top Identified Opportunities &amp; CIPLA Right to Win (Deliverable B - Q1 &amp; 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2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63040"/>
          <a:ext cx="6035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Opportunity Space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Bisoprolol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₹138.8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8.93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Ezetimibe + Rosuvastatin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₹183.4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8.72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Cilnidipine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₹759.4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8.64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Cilnidipine + Metoprolol + Telmisartan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₹160.8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+30.5%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8.25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Saroglitazar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₹537.6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8.07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1280160"/>
            <a:ext cx="40233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Trebuchet MS"/>
              </a:defRPr>
            </a:pPr>
            <a:r>
              <a:t>ACTIVE PRIORITIZATION &amp; RTW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Priority 1: Cilnidipine + Telmisartan</a:t>
            </a:r>
            <a:br/>
            <a:r>
              <a:t>₹759.4 Mn market growing at 26.6% CAGR. Resolved competitor crowding (Torrent leads at 24.2%) by leveraging CIPLA's flagship brand Telma to launch Telma-LN, bypassing brand build-up costs.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• Priority 2: Ezetimibe + Rosuvastatin</a:t>
            </a:r>
            <a:br/>
            <a:r>
              <a:t>Hyper-growth space (91.5% CAGR). ESC 2023 guidelines mandate aggressive &lt;55 mg/dL LDL-C targets, projecting 5x market expansion. CIPLA can gain first-mover advantage with Rosulip-EZ against Sun &amp; Lupin.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280160"/>
            <a:ext cx="4023360" cy="73152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33F8C"/>
                </a:solidFill>
                <a:latin typeface="Trebuchet MS"/>
              </a:defRPr>
            </a:pPr>
            <a:r>
              <a:t>Slide 3: Underpenetrated Gaps &amp; 4-Tier Strategic Roadmap (Deliverable B - Q3 &amp; Q4)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3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D92534"/>
                </a:solidFill>
                <a:latin typeface="Trebuchet MS"/>
              </a:defRPr>
            </a:pPr>
            <a:r>
              <a:t>HIGH-POTENTIAL UNDERPENETRATED GAPS (&lt;1% CIPLA SHARE) &amp; REQUIRED ACTIONS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1. Cilnidipine + Telmisartan (0.26% Share): Urgent generic umbrella launch under Telma-LN. Position dual L/N-type calcium blockade over plain Amlodipine for pedal-edema relief.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2. Ezetimibe + Rosuvastatin (0.54% Share): Immediate launch of Rosulip-EZ FDC combination. Execute targeted cardiologist medical education.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3. Saroglitazar (0.00% Share): In-license/co-market with Zydus Cadila to capture diabetic dyslipidemia hyper-growth (67.7% CAGR) without clinical trial R&amp;D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54864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523744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Cilnidipine + Telmisartan</a:t>
            </a:r>
            <a:br/>
            <a:r>
              <a:t>Ezetimibe + Rosuvastatin</a:t>
            </a:r>
            <a:br/>
            <a:r>
              <a:t>Bisoprolol + Telmisartan</a:t>
            </a:r>
            <a:br/>
            <a:br/>
            <a:r>
              <a:t>Action: Immediate FDC umbrella launch.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2523744" cy="3657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D92534"/>
                </a:solidFill>
                <a:latin typeface="Trebuchet MS"/>
              </a:defRPr>
            </a:pPr>
            <a:r>
              <a:t>1. BUILD /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474720"/>
            <a:ext cx="2523744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Amlodipine + Telmisartan</a:t>
            </a:r>
            <a:br/>
            <a:r>
              <a:t>Plain Telmisartan (₹1,437 Mn)</a:t>
            </a:r>
            <a:br/>
            <a:br/>
            <a:r>
              <a:t>Action: Scale sales force distribution &amp;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3474720"/>
            <a:ext cx="2523744" cy="3657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2. DOUBLE DOWN / GROW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474720"/>
            <a:ext cx="2523744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3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Amlodipine + Atenolol (13.7% sh)</a:t>
            </a:r>
            <a:br/>
            <a:r>
              <a:t>Fenofibrate (28.6% sh)</a:t>
            </a:r>
            <a:br/>
            <a:br/>
            <a:r>
              <a:t>Action: Protect market share &amp; extract cash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474720"/>
            <a:ext cx="2523744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233F8C"/>
                </a:solidFill>
                <a:latin typeface="Trebuchet MS"/>
              </a:defRPr>
            </a:pPr>
            <a:r>
              <a:t>3. DEFEND / HARVEST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474720"/>
            <a:ext cx="2523744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Saroglitazar (67.7% CAGR)</a:t>
            </a:r>
            <a:br/>
            <a:r>
              <a:t>Inclisiran (415.5% CAGR)</a:t>
            </a:r>
            <a:br/>
            <a:br/>
            <a:r>
              <a:t>Action: Co-marketing &amp; distribution partnerships.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3474720"/>
            <a:ext cx="2523744" cy="3657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4. SEED / PARTNER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33F8C"/>
                </a:solidFill>
                <a:latin typeface="Trebuchet MS"/>
              </a:defRPr>
            </a:pPr>
            <a:r>
              <a:t>Appendix: External Secondary Research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4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1. Cardiology Clinical Guidelines: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ESC/EAS 2019 &amp; 2023 Focused Update: European Heart Journal (Mandating aggressive LDL-C targets &lt;55 mg/dL).</a:t>
            </a:r>
            <a:br/>
            <a:r>
              <a:t>• ESC/ESH 2024 Hypertension Guidelines: Recommendation for early dual single-pill combination (FDC) initiation.</a:t>
            </a:r>
            <a:br/>
            <a:r>
              <a:t>• API 2024 Guidelines: Association of Physicians of India Consensus Statement on Diabetic Hypertension Management.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2. Landmark Clinical Trials: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CARTER Trial: Kidney Int (Cilnidipine + Telmisartan vs Amlodipine + Telmisartan - proving pedal edema relief &amp; renal protection).</a:t>
            </a:r>
            <a:br/>
            <a:r>
              <a:t>• IMPROVE-IT Trial: NEJM (Ezetimibe added to Statin - 6.4% MACE reduction).</a:t>
            </a:r>
            <a:br/>
            <a:r>
              <a:t>• ORION-10/11 Trials: NEJM 2020 (Inclisiran siRNA PCSK9 silencer - 52% sustained LDL-C reduction).</a:t>
            </a:r>
            <a:br/>
            <a:r>
              <a:t>• PRESS IV Trial: Diabetes Care 2021 (Saroglitazar Dual PPAR Alpha/Gamma Agonist - 45% TG reduction).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3. Regulatory &amp; Commercial Datasets: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Indian Patent Office (IPO) Database: IPIR generic launch timelines for active combination APIs.</a:t>
            </a:r>
            <a:br/>
            <a:r>
              <a:t>• Pharmarack Commercial Indian Market Dataset: MAT Feb 2024 – MAT Feb 2026 (7,452 rows).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54864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