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315200" y="0"/>
            <a:ext cx="4876495" cy="6858000"/>
          </a:xfrm>
          <a:prstGeom prst="rtTriangle">
            <a:avLst/>
          </a:prstGeom>
          <a:solidFill>
            <a:srgbClr val="16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3840480"/>
          </a:xfrm>
          <a:prstGeom prst="roundRect">
            <a:avLst/>
          </a:prstGeom>
          <a:solidFill>
            <a:srgbClr val="14234B"/>
          </a:solidFill>
          <a:ln>
            <a:solidFill>
              <a:srgbClr val="284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100" b="1">
                <a:solidFill>
                  <a:srgbClr val="D92534"/>
                </a:solidFill>
                <a:latin typeface="Trebuchet MS"/>
              </a:defRPr>
            </a:pPr>
            <a:r>
              <a:t>CIPLA CARDIAC STRATEGY  •  ASCEND SEASON 4 SUBMISSION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  <a:latin typeface="Trebuchet MS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400">
                <a:solidFill>
                  <a:srgbClr val="CBD5E1"/>
                </a:solidFill>
                <a:latin typeface="Calibri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3F8C"/>
                </a:solidFill>
                <a:latin typeface="Trebuchet MS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1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28416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1. OBJECTIVE &amp; SCOPE</a:t>
            </a:r>
          </a:p>
          <a:p>
            <a:br/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Performance Diagnosis:</a:t>
            </a:r>
            <a:br/>
            <a:r>
              <a:t>61% of CIPLA's sales are tied to mature, low-growth drugs (Amlodipine combinations growing at 4.9%).</a:t>
            </a:r>
          </a:p>
          <a:p>
            <a:pPr>
              <a:defRPr sz="1050">
                <a:solidFill>
                  <a:srgbClr val="0F172A"/>
                </a:solidFill>
                <a:latin typeface="Calibri"/>
              </a:defRPr>
            </a:pPr>
            <a:r>
              <a:t>• Core Agent Purpose:</a:t>
            </a:r>
            <a:br/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328416" cy="73152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828800"/>
            <a:ext cx="2926080" cy="868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800" b="1">
                <a:solidFill>
                  <a:srgbClr val="D92534"/>
                </a:solidFill>
                <a:latin typeface="Trebuchet MS"/>
              </a:defRPr>
            </a:pPr>
            <a:r>
              <a:t>3.98% vs 12.18%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CIPLA Growth vs Market Growth 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325880"/>
            <a:ext cx="3328416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1000"/>
              </a:spcAft>
              <a:defRPr sz="1300" b="1">
                <a:solidFill>
                  <a:srgbClr val="233F8C"/>
                </a:solidFill>
                <a:latin typeface="Trebuchet MS"/>
              </a:defRPr>
            </a:pPr>
            <a:r>
              <a:t>2. 3-LAYER INGESTION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5696" y="1325880"/>
            <a:ext cx="3328416" cy="73152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828800"/>
            <a:ext cx="2962656" cy="1143000"/>
          </a:xfrm>
          <a:prstGeom prst="round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Layer 1: Commercial Baseline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Ingests annual MAT sales, MAT CP volume CAGRs, units, HHI, and brand footholds. Excludes monthly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3063240"/>
            <a:ext cx="2962656" cy="12344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Layer 2: Live Secondary Signals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LLM Agent retrieves ESC/AHA/API guidelines, landmark trials (CARTER, ORION), and Indian patent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576" y="4389120"/>
            <a:ext cx="2962656" cy="1051560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6D28D9"/>
                </a:solidFill>
                <a:latin typeface="Trebuchet MS"/>
              </a:defRPr>
            </a:pPr>
            <a:r>
              <a:t>Layer 3: Market Clusters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Categorizes molecules into 4 clinical treatment archetypes.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25880"/>
            <a:ext cx="3328416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1000"/>
              </a:spcAft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3. FORMULA &amp; TRADE-OFF LOGIC</a:t>
            </a:r>
          </a:p>
          <a:p>
            <a:br/>
            <a:pPr>
              <a:defRPr sz="1000">
                <a:solidFill>
                  <a:srgbClr val="0F172A"/>
                </a:solidFill>
                <a:latin typeface="Calibri"/>
              </a:defRPr>
            </a:pPr>
            <a:r>
              <a:t>• Trade-Off Resolutions:</a:t>
            </a:r>
            <a:br/>
            <a:r>
              <a:t>1. Scale vs Growth: MAT CP isolates volume expansion from price inflation.</a:t>
            </a:r>
            <a:br/>
            <a:r>
              <a:t>2. Crowding vs RTW: Overridden if CIPLA holds umbrella brand (Telma).</a:t>
            </a:r>
            <a:br/>
            <a:r>
              <a:t>3. In-Licensing: High gaps without R&amp;D assigned to Co-Marketing.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325880"/>
            <a:ext cx="3328416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828800"/>
            <a:ext cx="2962656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950" b="1">
                <a:solidFill>
                  <a:srgbClr val="6366F1"/>
                </a:solidFill>
                <a:latin typeface="Trebuchet MS"/>
              </a:defRPr>
            </a:pPr>
            <a:r>
              <a:t>PRIORITIZATION FORMULA:</a:t>
            </a:r>
          </a:p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Score = 0.40 * Attractiveness</a:t>
            </a:r>
            <a:br/>
            <a:r>
              <a:t>       + 0.25 * HHI Competition</a:t>
            </a:r>
            <a:br/>
            <a:r>
              <a:t>       + 0.35 * CIPLA RTW + Bonus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3F8C"/>
                </a:solidFill>
                <a:latin typeface="Trebuchet MS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2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492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08760"/>
          <a:ext cx="6126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239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325880"/>
            <a:ext cx="3977639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8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ACTIVE PRIORITIZATION &amp; RTW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325880"/>
            <a:ext cx="3977639" cy="73152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1874519"/>
            <a:ext cx="3611880" cy="19202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D92534"/>
                </a:solidFill>
                <a:latin typeface="Trebuchet MS"/>
              </a:defRPr>
            </a:pPr>
            <a:r>
              <a:t>Priority 1: Cilnidipine + Telmisartan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931920"/>
            <a:ext cx="3611880" cy="192024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Priority 2: Ezetimibe + Rosuvastatin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3F8C"/>
                </a:solidFill>
                <a:latin typeface="Trebuchet MS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3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D92534"/>
                </a:solidFill>
                <a:latin typeface="Trebuchet MS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54864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2523744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29000"/>
            <a:ext cx="2523744" cy="38404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D92534"/>
                </a:solidFill>
                <a:latin typeface="Trebuchet MS"/>
              </a:defRPr>
            </a:pPr>
            <a:r>
              <a:t>1. BUILD /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429000"/>
            <a:ext cx="2523744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3429000"/>
            <a:ext cx="2523744" cy="38404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2. DOUBLE DOWN / GROW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29000"/>
            <a:ext cx="2523744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429000"/>
            <a:ext cx="2523744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3. DEFEND / HARVEST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429000"/>
            <a:ext cx="2523744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3429000"/>
            <a:ext cx="2523744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4. SEED /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384048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D92534"/>
                </a:solidFill>
                <a:latin typeface="Trebuchet MS"/>
              </a:defRPr>
            </a:pPr>
            <a:r>
              <a:t>CIPLA CARDIAC AI PRIORITIZATION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3F8C"/>
                </a:solidFill>
                <a:latin typeface="Trebuchet MS"/>
              </a:defRPr>
            </a:pPr>
            <a:r>
              <a:t>Appendix: External Secondary Research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Cardiac Agent  |  Ascend Season 4  |  Slide 4 of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1. Cardiology Clinical Guidelines: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2. Landmark Clinical Trials: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3. Regulatory &amp; Commercial Datasets: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54864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