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D92534"/>
                </a:solidFill>
                <a:latin typeface="Outfit"/>
              </a:defRPr>
            </a:pPr>
            <a:r>
              <a:t>CIPLA CARDIAC STRATEGY  •  ASCEND SEASON 4 SUBMISSION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Outfit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500">
                <a:solidFill>
                  <a:srgbClr val="CBD5E1"/>
                </a:solidFill>
                <a:latin typeface="Plus Jakarta Sans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2534"/>
                </a:solidFill>
                <a:latin typeface="Outfit"/>
              </a:defRPr>
            </a:pPr>
            <a:r>
              <a:t>CIPLA CARDIAC OPPORTUNITY PRIORITIZER</a:t>
            </a:r>
          </a:p>
          <a:p>
            <a:pPr>
              <a:defRPr sz="2200" b="1">
                <a:solidFill>
                  <a:srgbClr val="233F8C"/>
                </a:solidFill>
                <a:latin typeface="Outfit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lus Jakarta Sans"/>
              </a:defRPr>
            </a:pPr>
            <a:r>
              <a:t>Cipla Cardiac AI Prioritizer Agent  |  Ascend Season 4  |  Slide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33F8C"/>
                </a:solidFill>
                <a:latin typeface="Outfit"/>
              </a:defRPr>
            </a:pPr>
            <a:r>
              <a:t>1. Agent Objective &amp; Scope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Plus Jakarta Sans"/>
              </a:defRPr>
            </a:pPr>
            <a:r>
              <a:t>• Problem Addressed:</a:t>
            </a:r>
            <a:br/>
            <a:r>
              <a:t>CIPLA is growing at 3.98% in a Cardiac market expanding at 12.18% CAGR. 61% of sales are tied to low-growth mature drugs.</a:t>
            </a:r>
          </a:p>
          <a:p>
            <a:pPr>
              <a:defRPr sz="1100">
                <a:solidFill>
                  <a:srgbClr val="0F172A"/>
                </a:solidFill>
                <a:latin typeface="Plus Jakarta Sans"/>
              </a:defRPr>
            </a:pPr>
            <a:r>
              <a:t>• Core Purpose:</a:t>
            </a:r>
            <a:br/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33F8C"/>
                </a:solidFill>
                <a:latin typeface="Outfit"/>
              </a:defRPr>
            </a:pPr>
            <a:r>
              <a:t>2. 3-Layer Ingestion Rationale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Plus Jakarta Sans"/>
              </a:defRPr>
            </a:pPr>
            <a:r>
              <a:t>• Layer 1: Commercial Baseline</a:t>
            </a:r>
            <a:br/>
            <a:r>
              <a:t>Ingests MAT sales, Constant-Price volume CAGRs (MAT CP), units, HHI, and brand footholds. Excludes monthly noise &amp; pack-size SKU clutter.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Plus Jakarta Sans"/>
              </a:defRPr>
            </a:pPr>
            <a:r>
              <a:t>• Layer 2: Live Secondary Signals</a:t>
            </a:r>
            <a:br/>
            <a:r>
              <a:t>LLM retrieves ESC/AHA/API guidelines, trial proof points (CARTER, ORION), and patent expiry dates.</a:t>
            </a:r>
          </a:p>
          <a:p>
            <a:pPr>
              <a:defRPr sz="1100">
                <a:solidFill>
                  <a:srgbClr val="0F172A"/>
                </a:solidFill>
                <a:latin typeface="Plus Jakarta Sans"/>
              </a:defRPr>
            </a:pPr>
            <a:r>
              <a:t>• Layer 3: Market Clusters</a:t>
            </a:r>
            <a:br/>
            <a:r>
              <a:t>Categorizes molecules into 4 clinical treatment archetypes.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33F8C"/>
                </a:solidFill>
                <a:latin typeface="Outfit"/>
              </a:defRPr>
            </a:pPr>
            <a:r>
              <a:t>3. Formula &amp; Trade-Off Logic</a:t>
            </a:r>
          </a:p>
          <a:p>
            <a:pPr>
              <a:spcAft>
                <a:spcPts val="1000"/>
              </a:spcAft>
              <a:defRPr sz="1100" b="1">
                <a:solidFill>
                  <a:srgbClr val="D92534"/>
                </a:solidFill>
                <a:latin typeface="Plus Jakarta Sans"/>
              </a:defRPr>
            </a:pPr>
            <a:r>
              <a:t>• Prioritization Formula:</a:t>
            </a:r>
            <a:br/>
            <a:r>
              <a:t>Score = 0.40 * Attractiveness + 0.25 * HHI + 0.35 * CIPLA RTW + Clinical Bonus (+1.2)</a:t>
            </a:r>
          </a:p>
          <a:p>
            <a:pPr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Trade-Off Resolutions:</a:t>
            </a:r>
            <a:br/>
            <a:r>
              <a:t>1. Scale vs Growth: MAT CP isolates volume expansion from price inflation.</a:t>
            </a:r>
            <a:br/>
            <a:r>
              <a:t>2. Crowding vs RTW: High-growth crowded spaces are overridden if CIPLA holds an adjacent umbrella brand (Telma).</a:t>
            </a:r>
            <a:br/>
            <a:r>
              <a:t>3. In-Licensing: High-growth gaps without R&amp;D are assigned to Co-Marketing.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2534"/>
                </a:solidFill>
                <a:latin typeface="Outfit"/>
              </a:defRPr>
            </a:pPr>
            <a:r>
              <a:t>CIPLA CARDIAC OPPORTUNITY PRIORITIZER</a:t>
            </a:r>
          </a:p>
          <a:p>
            <a:pPr>
              <a:defRPr sz="2200" b="1">
                <a:solidFill>
                  <a:srgbClr val="233F8C"/>
                </a:solidFill>
                <a:latin typeface="Outfit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lus Jakarta Sans"/>
              </a:defRPr>
            </a:pPr>
            <a:r>
              <a:t>Cipla Cardiac AI Prioritizer Agent  |  Ascend Season 4  |  Slide 2 of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217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lus Jakarta Sans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Plus Jakarta Sans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lus Jakarta Sans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Plus Jakarta Sans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lus Jakarta Sans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Plus Jakarta Sans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lus Jakarta Sans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Plus Jakarta Sans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Plus Jakarta Sans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Plus Jakarta Sans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371600"/>
            <a:ext cx="4206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233F8C"/>
                </a:solidFill>
                <a:latin typeface="Outfit"/>
              </a:defRPr>
            </a:pPr>
            <a:r>
              <a:t>Active Prioritization &amp; RTW vs Competitors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Priority 1: Cilnidipine + Telmisartan</a:t>
            </a:r>
            <a:br/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  <a:p>
            <a:pPr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Priority 2: Ezetimibe + Rosuvastatin</a:t>
            </a:r>
            <a:br/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2534"/>
                </a:solidFill>
                <a:latin typeface="Outfit"/>
              </a:defRPr>
            </a:pPr>
            <a:r>
              <a:t>CIPLA CARDIAC OPPORTUNITY PRIORITIZER</a:t>
            </a:r>
          </a:p>
          <a:p>
            <a:pPr>
              <a:defRPr sz="2200" b="1">
                <a:solidFill>
                  <a:srgbClr val="233F8C"/>
                </a:solidFill>
                <a:latin typeface="Outfit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lus Jakarta Sans"/>
              </a:defRPr>
            </a:pPr>
            <a:r>
              <a:t>Cipla Cardiac AI Prioritizer Agent  |  Ascend Season 4  |  Slide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233F8C"/>
                </a:solidFill>
                <a:latin typeface="Outfit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lus Jakarta Sans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514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D92534"/>
                </a:solidFill>
                <a:latin typeface="Outfit"/>
              </a:defRPr>
            </a:pPr>
            <a:r>
              <a:t>1. BUILD / LAUNCH</a:t>
            </a:r>
          </a:p>
          <a:p>
            <a:pPr>
              <a:defRPr sz="950">
                <a:solidFill>
                  <a:srgbClr val="0F172A"/>
                </a:solidFill>
                <a:latin typeface="Plus Jakarta Sans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566160"/>
            <a:ext cx="2514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Outfit"/>
              </a:defRPr>
            </a:pPr>
            <a:r>
              <a:t>2. DOUBLE DOWN / GROW</a:t>
            </a:r>
          </a:p>
          <a:p>
            <a:pPr>
              <a:defRPr sz="950">
                <a:solidFill>
                  <a:srgbClr val="0F172A"/>
                </a:solidFill>
                <a:latin typeface="Plus Jakarta Sans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566160"/>
            <a:ext cx="2514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233F8C"/>
                </a:solidFill>
                <a:latin typeface="Outfit"/>
              </a:defRPr>
            </a:pPr>
            <a:r>
              <a:t>3. DEFEND / HARVEST</a:t>
            </a:r>
          </a:p>
          <a:p>
            <a:pPr>
              <a:defRPr sz="950">
                <a:solidFill>
                  <a:srgbClr val="0F172A"/>
                </a:solidFill>
                <a:latin typeface="Plus Jakarta Sans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566160"/>
            <a:ext cx="2514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  <a:latin typeface="Outfit"/>
              </a:defRPr>
            </a:pPr>
            <a:r>
              <a:t>4. SEED / PARTNER</a:t>
            </a:r>
          </a:p>
          <a:p>
            <a:pPr>
              <a:defRPr sz="950">
                <a:solidFill>
                  <a:srgbClr val="0F172A"/>
                </a:solidFill>
                <a:latin typeface="Plus Jakarta Sans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2534"/>
                </a:solidFill>
                <a:latin typeface="Outfit"/>
              </a:defRPr>
            </a:pPr>
            <a:r>
              <a:t>CIPLA CARDIAC OPPORTUNITY PRIORITIZER</a:t>
            </a:r>
          </a:p>
          <a:p>
            <a:pPr>
              <a:defRPr sz="2200" b="1">
                <a:solidFill>
                  <a:srgbClr val="233F8C"/>
                </a:solidFill>
                <a:latin typeface="Outfit"/>
              </a:defRPr>
            </a:pPr>
            <a:r>
              <a:t>Appendix: External Secondary Research &amp;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Plus Jakarta Sans"/>
              </a:defRPr>
            </a:pPr>
            <a:r>
              <a:t>Cipla Cardiac AI Prioritizer Agent  |  Ascend Season 4  |  Slide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233F8C"/>
                </a:solidFill>
                <a:latin typeface="Outfit"/>
              </a:defRPr>
            </a:pPr>
            <a:r>
              <a:t>1. Cardiology Clinical Guidelines: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400"/>
              </a:spcAft>
              <a:defRPr sz="1300" b="1">
                <a:solidFill>
                  <a:srgbClr val="233F8C"/>
                </a:solidFill>
                <a:latin typeface="Outfit"/>
              </a:defRPr>
            </a:pPr>
            <a:r>
              <a:t>2. Landmark Clinical Trials: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400"/>
              </a:spcAft>
              <a:defRPr sz="1300" b="1">
                <a:solidFill>
                  <a:srgbClr val="233F8C"/>
                </a:solidFill>
                <a:latin typeface="Outfit"/>
              </a:defRPr>
            </a:pPr>
            <a:r>
              <a:t>3. Regulatory &amp; Commercial Datasets: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  <a:latin typeface="Plus Jakarta Sans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