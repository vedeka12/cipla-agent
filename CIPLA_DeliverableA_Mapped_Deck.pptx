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731520" cy="731520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1371600"/>
            <a:ext cx="54864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Cipla</a:t>
            </a:r>
          </a:p>
          <a:p>
            <a:pPr>
              <a:defRPr sz="1100" b="1">
                <a:solidFill>
                  <a:srgbClr val="D92534"/>
                </a:solidFill>
                <a:latin typeface="Segoe UI"/>
              </a:defRPr>
            </a:pPr>
            <a:r>
              <a:t>CARDIAC PORTFOLIO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377440"/>
            <a:ext cx="9997135" cy="3474720"/>
          </a:xfrm>
          <a:prstGeom prst="rect">
            <a:avLst/>
          </a:prstGeom>
          <a:solidFill>
            <a:srgbClr val="14234B"/>
          </a:solidFill>
          <a:ln>
            <a:solidFill>
              <a:srgbClr val="284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400"/>
              </a:spcAft>
              <a:defRPr sz="1100" b="1">
                <a:solidFill>
                  <a:srgbClr val="D92534"/>
                </a:solidFill>
                <a:latin typeface="Segoe UI"/>
              </a:defRPr>
            </a:pPr>
            <a:r>
              <a:t>ASCEND SEASON 4  •  AI AGENTIC DECISION SUPPORT SYSTEM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CIPLA CARDIAC OPPORTUNITY</a:t>
            </a:r>
            <a:br/>
            <a:r>
              <a:t>PRIORITIZATION AGENT</a:t>
            </a:r>
          </a:p>
          <a:p>
            <a:pPr>
              <a:defRPr sz="1350">
                <a:solidFill>
                  <a:srgbClr val="CBD5E1"/>
                </a:solidFill>
                <a:latin typeface="Segoe UI"/>
              </a:defRPr>
            </a:pPr>
            <a:r>
              <a:t>An Autonomous Agentic Framework Synthesizing Commercial Market Signals &amp; Live Clinical Guidelines to Accelerate Portfolio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895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438912" cy="438912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6304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33F8C"/>
                </a:solidFill>
                <a:latin typeface="Segoe UI"/>
              </a:defRPr>
            </a:pPr>
            <a:r>
              <a:t>Cipla</a:t>
            </a:r>
          </a:p>
          <a:p>
            <a:pPr>
              <a:defRPr sz="800" b="1">
                <a:solidFill>
                  <a:srgbClr val="D92534"/>
                </a:solidFill>
                <a:latin typeface="Segoe UI"/>
              </a:defRPr>
            </a:pPr>
            <a:r>
              <a:t>CARDIAC AI PRIORITIZATION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01168"/>
            <a:ext cx="292608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3F8C"/>
                </a:solidFill>
                <a:latin typeface="Segoe UI"/>
              </a:defRPr>
            </a:pPr>
            <a:r>
              <a:t>ASCEND SEASON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Cipla Limited  |  Cardiac Portfolio Strategy  |  Slide 1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33F8C"/>
                </a:solidFill>
                <a:latin typeface="Segoe UI"/>
              </a:defRPr>
            </a:pPr>
            <a:r>
              <a:t>Slide 1: AI Agent Architecture &amp; Prioritization Framework (Deliverable A)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3328416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D92534"/>
                </a:solidFill>
                <a:latin typeface="Segoe UI"/>
              </a:defRPr>
            </a:pPr>
            <a:r>
              <a:t>1. OBJECTIVE &amp; DIAGNOSIS</a:t>
            </a:r>
          </a:p>
          <a:p>
            <a:pPr>
              <a:spcAft>
                <a:spcPts val="8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Addresses: Growth Challenge &amp;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73152" cy="4892040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057400"/>
            <a:ext cx="2962656" cy="96012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700" b="1">
                <a:solidFill>
                  <a:srgbClr val="D92534"/>
                </a:solidFill>
                <a:latin typeface="Segoe UI"/>
              </a:defRPr>
            </a:pPr>
            <a:r>
              <a:t>3.98% vs 12.18%</a:t>
            </a:r>
          </a:p>
          <a:p>
            <a:pPr>
              <a:defRPr sz="950" b="1">
                <a:solidFill>
                  <a:srgbClr val="0F172A"/>
                </a:solidFill>
                <a:latin typeface="Segoe UI"/>
              </a:defRPr>
            </a:pPr>
            <a:r>
              <a:t>CIPLA Growth vs Market Growth 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154680"/>
            <a:ext cx="2962656" cy="1325880"/>
          </a:xfrm>
          <a:prstGeom prst="rect">
            <a:avLst/>
          </a:prstGeom>
          <a:solidFill>
            <a:srgbClr val="F0F4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233F8C"/>
                </a:solidFill>
                <a:latin typeface="Segoe UI"/>
              </a:defRPr>
            </a:pPr>
            <a:r>
              <a:t>Performance Diagnosis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61% of CIPLA's cardiac sales are tied to mature, low-growth drugs (Amlodipine combinations growing at only 4.9%).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617720"/>
            <a:ext cx="2962656" cy="13716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Core Agent Purpose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Autonomously rank 193 active cardiac molecules across 14 ATC groups to uncover 3–5 year high-growth opportunity spaces.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696" y="1417320"/>
            <a:ext cx="3328416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233F8C"/>
                </a:solidFill>
                <a:latin typeface="Segoe UI"/>
              </a:defRPr>
            </a:pPr>
            <a:r>
              <a:t>2. DATA INGESTION &amp; RATIONALE</a:t>
            </a:r>
          </a:p>
          <a:p>
            <a:pPr>
              <a:spcAft>
                <a:spcPts val="8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Addresses: Commercial vs External Signals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5696" y="1417320"/>
            <a:ext cx="73152" cy="4892040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08576" y="2057400"/>
            <a:ext cx="2962656" cy="1280160"/>
          </a:xfrm>
          <a:prstGeom prst="rect">
            <a:avLst/>
          </a:prstGeom>
          <a:solidFill>
            <a:srgbClr val="F0F4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233F8C"/>
                </a:solidFill>
                <a:latin typeface="Segoe UI"/>
              </a:defRPr>
            </a:pPr>
            <a:r>
              <a:t>Layer 1: Commercial Baseline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Ingests MAT sales, MAT CP volume CAGRs, units, HHI, and brand footholds. Excludes monthly noise.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8576" y="3474720"/>
            <a:ext cx="2962656" cy="132588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Layer 2: Live Secondary Signals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LLM Agent retrieves ESC/AHA/API guidelines, landmark trials (CARTER, ORION), and Indian patent dates.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08576" y="4892040"/>
            <a:ext cx="2962656" cy="1097280"/>
          </a:xfrm>
          <a:prstGeom prst="rect">
            <a:avLst/>
          </a:prstGeom>
          <a:solidFill>
            <a:srgbClr val="FAF5FF"/>
          </a:solidFill>
          <a:ln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6D28D9"/>
                </a:solidFill>
                <a:latin typeface="Segoe UI"/>
              </a:defRPr>
            </a:pPr>
            <a:r>
              <a:t>Layer 3: Market Clusters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Categorizes molecules into 4 clinical treatment archetypes.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9872" y="1417320"/>
            <a:ext cx="3328416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spcAft>
                <a:spcPts val="4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3. SCORING FORMULA &amp; TRADE-OFFS</a:t>
            </a:r>
          </a:p>
          <a:p>
            <a:pPr>
              <a:spcAft>
                <a:spcPts val="8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Addresses: Weights &amp; Trade-Off Resolution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1417320"/>
            <a:ext cx="73152" cy="4892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2752" y="2057400"/>
            <a:ext cx="2962656" cy="1188720"/>
          </a:xfrm>
          <a:prstGeom prst="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950" b="1">
                <a:solidFill>
                  <a:srgbClr val="6366F1"/>
                </a:solidFill>
                <a:latin typeface="Segoe UI"/>
              </a:defRPr>
            </a:pPr>
            <a:r>
              <a:t>PRIORITIZATION FORMULA:</a:t>
            </a:r>
          </a:p>
          <a:p>
            <a:pPr>
              <a:defRPr sz="1000" b="1">
                <a:solidFill>
                  <a:srgbClr val="0F172A"/>
                </a:solidFill>
                <a:latin typeface="Segoe UI"/>
              </a:defRPr>
            </a:pPr>
            <a:r>
              <a:t>Score = 0.40 * Attractiveness</a:t>
            </a:r>
            <a:br/>
            <a:r>
              <a:t>       + 0.25 * HHI Competition</a:t>
            </a:r>
            <a:br/>
            <a:r>
              <a:t>       + 0.35 * CIPLA RTW + Bonus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3383280"/>
            <a:ext cx="2962656" cy="2606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Trade-Off Resolutions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1. Scale vs Growth:</a:t>
            </a:r>
            <a:br/>
            <a:r>
              <a:t>MAT CP isolates volume expansion from price inflation.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2. Crowding vs RTW:</a:t>
            </a:r>
            <a:br/>
            <a:r>
              <a:t>Overridden if CIPLA holds umbrella brand (Telma).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3. In-Licensing:</a:t>
            </a:r>
            <a:br/>
            <a:r>
              <a:t>High gaps without R&amp;D assigned to Co-Marketing.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895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438912" cy="438912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6304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33F8C"/>
                </a:solidFill>
                <a:latin typeface="Segoe UI"/>
              </a:defRPr>
            </a:pPr>
            <a:r>
              <a:t>Cipla</a:t>
            </a:r>
          </a:p>
          <a:p>
            <a:pPr>
              <a:defRPr sz="800" b="1">
                <a:solidFill>
                  <a:srgbClr val="D92534"/>
                </a:solidFill>
                <a:latin typeface="Segoe UI"/>
              </a:defRPr>
            </a:pPr>
            <a:r>
              <a:t>CARDIAC AI PRIORITIZATION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01168"/>
            <a:ext cx="292608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3F8C"/>
                </a:solidFill>
                <a:latin typeface="Segoe UI"/>
              </a:defRPr>
            </a:pPr>
            <a:r>
              <a:t>ASCEND SEASON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Cipla Limited  |  Cardiac Portfolio Strategy  |  Slide 2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33F8C"/>
                </a:solidFill>
                <a:latin typeface="Segoe UI"/>
              </a:defRPr>
            </a:pPr>
            <a:r>
              <a:t>Slide 2: Top Identified Opportunities &amp; CIPLA Right to Win (Deliverable B - Q1 &amp; Q2)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649224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73152" cy="4892040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1600200"/>
          <a:ext cx="61264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543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Opportunity Space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Market Size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3-Yr CAGR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Bisoprolol + Telmisartan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₹138.8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+92.9%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Segoe UI"/>
                        </a:defRPr>
                      </a:pPr>
                      <a:r>
                        <a:t>8.93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Ezetimibe + Rosuvastatin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₹183.4 Mn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+91.5%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Segoe UI"/>
                        </a:defRPr>
                      </a:pPr>
                      <a:r>
                        <a:t>8.72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Cilnidipine + Telmisartan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₹759.4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+26.6%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Segoe UI"/>
                        </a:defRPr>
                      </a:pPr>
                      <a:r>
                        <a:t>8.64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Cilnidipine + Metoprolol + Telmisartan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₹160.8 Mn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+30.5%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Segoe UI"/>
                        </a:defRPr>
                      </a:pPr>
                      <a:r>
                        <a:t>8.25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Saroglitazar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₹537.6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+67.7%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Segoe UI"/>
                        </a:defRPr>
                      </a:pPr>
                      <a:r>
                        <a:t>8.07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452360" y="1417320"/>
            <a:ext cx="3977639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82880" b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D92534"/>
                </a:solidFill>
                <a:latin typeface="Segoe UI"/>
              </a:defRPr>
            </a:pPr>
            <a:r>
              <a:t>ACTIVE PRIORITIZATION &amp; RTW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417320"/>
            <a:ext cx="73152" cy="4892040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965960"/>
            <a:ext cx="3611880" cy="201168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D92534"/>
                </a:solidFill>
                <a:latin typeface="Segoe UI"/>
              </a:defRPr>
            </a:pPr>
            <a:r>
              <a:t>Priority 1: Cilnidipine + Telmisartan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₹759.4 Mn market growing at 26.6% CAGR. Resolved competitor crowding (Torrent leads at 24.2%) by leveraging CIPLA's flagship brand Telma to launch Telma-LN, bypassing brand build-up costs.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4114800"/>
            <a:ext cx="3611880" cy="201168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Priority 2: Ezetimibe + Rosuvastatin</a:t>
            </a:r>
          </a:p>
          <a:p>
            <a:pPr>
              <a:defRPr sz="950">
                <a:solidFill>
                  <a:srgbClr val="0F172A"/>
                </a:solidFill>
                <a:latin typeface="Segoe UI"/>
              </a:defRPr>
            </a:pPr>
            <a:r>
              <a:t>Hyper-growth space (91.5% CAGR). ESC 2023 guidelines mandate aggressive &lt;55 mg/dL LDL-C targets, projecting 5x market expansion. CIPLA can gain first-mover advantage with Rosulip-EZ against Sun &amp; Lupin.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895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438912" cy="438912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6304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33F8C"/>
                </a:solidFill>
                <a:latin typeface="Segoe UI"/>
              </a:defRPr>
            </a:pPr>
            <a:r>
              <a:t>Cipla</a:t>
            </a:r>
          </a:p>
          <a:p>
            <a:pPr>
              <a:defRPr sz="800" b="1">
                <a:solidFill>
                  <a:srgbClr val="D92534"/>
                </a:solidFill>
                <a:latin typeface="Segoe UI"/>
              </a:defRPr>
            </a:pPr>
            <a:r>
              <a:t>CARDIAC AI PRIORITIZATION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01168"/>
            <a:ext cx="292608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3F8C"/>
                </a:solidFill>
                <a:latin typeface="Segoe UI"/>
              </a:defRPr>
            </a:pPr>
            <a:r>
              <a:t>ASCEND SEASON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Cipla Limited  |  Cardiac Portfolio Strategy  |  Slide 3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33F8C"/>
                </a:solidFill>
                <a:latin typeface="Segoe UI"/>
              </a:defRPr>
            </a:pPr>
            <a:r>
              <a:t>Slide 3: Underpenetrated Gaps &amp; 4-Tier Strategic Roadmap (Deliverable B - Q3 &amp; Q4)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10728655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D92534"/>
                </a:solidFill>
                <a:latin typeface="Segoe UI"/>
              </a:defRPr>
            </a:pPr>
            <a:r>
              <a:t>HIGH-POTENTIAL UNDERPENETRATED GAPS (&lt;1% CIPLA SHARE) &amp; REQUIRED ACTIONS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1. Cilnidipine + Telmisartan (0.26% Share): Urgent generic umbrella launch under Telma-LN. Position dual L/N-type calcium blockade over plain Amlodipine for pedal-edema relief.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2. Ezetimibe + Rosuvastatin (0.54% Share): Immediate launch of Rosulip-EZ FDC combination. Execute targeted cardiologist medical education.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Segoe UI"/>
              </a:defRPr>
            </a:pPr>
            <a:r>
              <a:t>3. Saroglitazar (0.00% Share): In-license/co-market with Zydus Cadila to capture diabetic dyslipidemia hyper-growth (67.7% CAGR) without clinical trial R&amp;D costs.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253288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Segoe UI"/>
              </a:defRPr>
            </a:pPr>
            <a:r>
              <a:t>Cilnidipine + Telmisartan</a:t>
            </a:r>
            <a:br/>
            <a:r>
              <a:t>Ezetimibe + Rosuvastatin</a:t>
            </a:r>
            <a:br/>
            <a:r>
              <a:t>Bisoprolol + Telmisartan</a:t>
            </a:r>
            <a:br/>
            <a:br/>
            <a:r>
              <a:t>Action: Immediate FDC umbrella launch.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20440"/>
            <a:ext cx="2532888" cy="38404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D92534"/>
                </a:solidFill>
                <a:latin typeface="Segoe UI"/>
              </a:defRPr>
            </a:pPr>
            <a:r>
              <a:t>1. BUILD / LAUNCH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5576" y="3520440"/>
            <a:ext cx="253288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Segoe UI"/>
              </a:defRPr>
            </a:pPr>
            <a:r>
              <a:t>Amlodipine + Telmisartan</a:t>
            </a:r>
            <a:br/>
            <a:r>
              <a:t>Plain Telmisartan (₹1,437 Mn)</a:t>
            </a:r>
            <a:br/>
            <a:br/>
            <a:r>
              <a:t>Action: Scale sales force distribution &amp; coverage.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5576" y="3520440"/>
            <a:ext cx="2532888" cy="38404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2. DOUBLE DOWN / GROW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3520440"/>
            <a:ext cx="253288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33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Segoe UI"/>
              </a:defRPr>
            </a:pPr>
            <a:r>
              <a:t>Amlodipine + Atenolol (13.7% sh)</a:t>
            </a:r>
            <a:br/>
            <a:r>
              <a:t>Fenofibrate (28.6% sh)</a:t>
            </a:r>
            <a:br/>
            <a:br/>
            <a:r>
              <a:t>Action: Protect market share &amp; extract cash flow.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20440"/>
            <a:ext cx="2532888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233F8C"/>
                </a:solidFill>
                <a:latin typeface="Segoe UI"/>
              </a:defRPr>
            </a:pPr>
            <a:r>
              <a:t>3. DEFEND / HARVEST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33688" y="3520440"/>
            <a:ext cx="253288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Segoe UI"/>
              </a:defRPr>
            </a:pPr>
            <a:r>
              <a:t>Saroglitazar (67.7% CAGR)</a:t>
            </a:r>
            <a:br/>
            <a:r>
              <a:t>Inclisiran (415.5% CAGR)</a:t>
            </a:r>
            <a:br/>
            <a:br/>
            <a:r>
              <a:t>Action: Co-marketing &amp; distribution partnerships.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33688" y="3520440"/>
            <a:ext cx="2532888" cy="38404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F59E0B"/>
                </a:solidFill>
                <a:latin typeface="Segoe UI"/>
              </a:defRPr>
            </a:pPr>
            <a:r>
              <a:t>4. SEED / PARTNER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895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438912" cy="438912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6304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33F8C"/>
                </a:solidFill>
                <a:latin typeface="Segoe UI"/>
              </a:defRPr>
            </a:pPr>
            <a:r>
              <a:t>Cipla</a:t>
            </a:r>
          </a:p>
          <a:p>
            <a:pPr>
              <a:defRPr sz="800" b="1">
                <a:solidFill>
                  <a:srgbClr val="D92534"/>
                </a:solidFill>
                <a:latin typeface="Segoe UI"/>
              </a:defRPr>
            </a:pPr>
            <a:r>
              <a:t>CARDIAC AI PRIORITIZATION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01168"/>
            <a:ext cx="292608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3F8C"/>
                </a:solidFill>
                <a:latin typeface="Segoe UI"/>
              </a:defRPr>
            </a:pPr>
            <a:r>
              <a:t>ASCEND SEASON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Cipla Limited  |  Cardiac Portfolio Strategy  |  Slide 4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33F8C"/>
                </a:solidFill>
                <a:latin typeface="Segoe UI"/>
              </a:defRPr>
            </a:pPr>
            <a:r>
              <a:t>Appendix: External Secondary Research &amp; Data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10728655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spcAft>
                <a:spcPts val="300"/>
              </a:spcAft>
              <a:defRPr sz="1200" b="1">
                <a:solidFill>
                  <a:srgbClr val="233F8C"/>
                </a:solidFill>
                <a:latin typeface="Segoe UI"/>
              </a:defRPr>
            </a:pPr>
            <a:r>
              <a:t>1. Cardiology Clinical Guidelines: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ESC/EAS 2019 &amp; 2023 Focused Update: European Heart Journal (Mandating aggressive LDL-C targets &lt;55 mg/dL).</a:t>
            </a:r>
            <a:br/>
            <a:r>
              <a:t>• ESC/ESH 2024 Hypertension Guidelines: Recommendation for early dual single-pill combination (FDC) initiation.</a:t>
            </a:r>
            <a:br/>
            <a:r>
              <a:t>• API 2024 Guidelines: Association of Physicians of India Consensus Statement on Diabetic Hypertension Management.</a:t>
            </a:r>
          </a:p>
          <a:p>
            <a:pPr>
              <a:spcAft>
                <a:spcPts val="300"/>
              </a:spcAft>
              <a:defRPr sz="1200" b="1">
                <a:solidFill>
                  <a:srgbClr val="233F8C"/>
                </a:solidFill>
                <a:latin typeface="Segoe UI"/>
              </a:defRPr>
            </a:pPr>
            <a:r>
              <a:t>2. Landmark Clinical Trials: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CARTER Trial: Kidney Int (Cilnidipine + Telmisartan vs Amlodipine + Telmisartan - proving pedal edema relief &amp; renal protection).</a:t>
            </a:r>
            <a:br/>
            <a:r>
              <a:t>• IMPROVE-IT Trial: NEJM (Ezetimibe added to Statin - 6.4% MACE reduction).</a:t>
            </a:r>
            <a:br/>
            <a:r>
              <a:t>• ORION-10/11 Trials: NEJM 2020 (Inclisiran siRNA PCSK9 silencer - 52% sustained LDL-C reduction).</a:t>
            </a:r>
            <a:br/>
            <a:r>
              <a:t>• PRESS IV Trial: Diabetes Care 2021 (Saroglitazar Dual PPAR Alpha/Gamma Agonist - 45% TG reduction).</a:t>
            </a:r>
          </a:p>
          <a:p>
            <a:pPr>
              <a:spcAft>
                <a:spcPts val="300"/>
              </a:spcAft>
              <a:defRPr sz="1200" b="1">
                <a:solidFill>
                  <a:srgbClr val="233F8C"/>
                </a:solidFill>
                <a:latin typeface="Segoe UI"/>
              </a:defRPr>
            </a:pPr>
            <a:r>
              <a:t>3. Regulatory &amp; Commercial Datasets: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Segoe UI"/>
              </a:defRPr>
            </a:pPr>
            <a:r>
              <a:t>• Indian Patent Office (IPO) Database: IPIR generic launch timelines for active combination APIs.</a:t>
            </a:r>
            <a:br/>
            <a:r>
              <a:t>• Pharmarack Commercial Indian Market Dataset: MAT Feb 2024 – MAT Feb 2026 (7,452 rows).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73152" cy="4892040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